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4253F"/>
                </a:solidFill>
                <a:latin typeface="Aptos"/>
              </a:defRPr>
            </a:pPr>
            <a:r>
              <a:t>MNIST Digit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81051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7878"/>
                </a:solidFill>
                <a:latin typeface="Aptos"/>
              </a:defRPr>
            </a:pPr>
            <a:r>
              <a:t>Using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377440"/>
            <a:ext cx="241091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A6470"/>
                </a:solidFill>
                <a:latin typeface="Aptos"/>
              </a:defRPr>
            </a:pPr>
            <a:r>
              <a:rPr dirty="0"/>
              <a:t>INTERNSHIP PROJECT 1  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77063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A6470"/>
                </a:solidFill>
                <a:latin typeface="Aptos"/>
              </a:defRPr>
            </a:pPr>
            <a:r>
              <a:t>July / August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6537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14253F"/>
                </a:solidFill>
                <a:latin typeface="Aptos"/>
              </a:defRPr>
            </a:pPr>
            <a:r>
              <a:t>Presented by</a:t>
            </a:r>
          </a:p>
          <a:p>
            <a:pPr>
              <a:spcAft>
                <a:spcPts val="700"/>
              </a:spcAft>
              <a:defRPr sz="2500" b="1">
                <a:solidFill>
                  <a:srgbClr val="1F7878"/>
                </a:solidFill>
                <a:latin typeface="Aptos"/>
              </a:defRPr>
            </a:pPr>
            <a:r>
              <a:t>Raveena</a:t>
            </a:r>
          </a:p>
          <a:p>
            <a:pPr>
              <a:spcAft>
                <a:spcPts val="700"/>
              </a:spcAft>
              <a:defRPr sz="1600" b="0">
                <a:solidFill>
                  <a:srgbClr val="5A6470"/>
                </a:solidFill>
                <a:latin typeface="Aptos"/>
              </a:defRPr>
            </a:pPr>
            <a:r>
              <a:t>B.Sc. Agriculture</a:t>
            </a:r>
          </a:p>
          <a:p>
            <a:pPr>
              <a:spcAft>
                <a:spcPts val="700"/>
              </a:spcAft>
              <a:defRPr sz="1400" b="0">
                <a:solidFill>
                  <a:srgbClr val="5A6470"/>
                </a:solidFill>
                <a:latin typeface="Aptos"/>
              </a:defRPr>
            </a:pPr>
            <a:r>
              <a:t>Chaudhary Charan Singh Haryana Agricultural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429000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53F"/>
                </a:solidFill>
                <a:latin typeface="Aptos"/>
              </a:defRPr>
            </a:pPr>
            <a:r>
              <a:t>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406908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A6470"/>
                </a:solidFill>
                <a:latin typeface="Aptos"/>
              </a:defRPr>
            </a:pPr>
            <a:r>
              <a:t>Handwritten digit recognition using CNN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8920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F7878"/>
                </a:solidFill>
                <a:latin typeface="Aptos"/>
              </a:defRPr>
            </a:pPr>
            <a:r>
              <a:t>PyTorch  •  MNIST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72784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0"/>
                </a:solidFill>
                <a:latin typeface="Aptos"/>
              </a:defRPr>
            </a:pPr>
            <a:r>
              <a:t>MNIST Digit Classification  |  Raveena  |  B.Sc. Agriculture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19456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7EB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6583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64008" cy="1417320"/>
          </a:xfrm>
          <a:prstGeom prst="rect">
            <a:avLst/>
          </a:prstGeom>
          <a:solidFill>
            <a:srgbClr val="2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399032"/>
            <a:ext cx="6199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What the project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801368"/>
            <a:ext cx="619963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A Convolutional Neural Network (CNN) recognizes handwritten digits from the MNIST dataset.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8036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880360"/>
            <a:ext cx="64008" cy="1325880"/>
          </a:xfrm>
          <a:prstGeom prst="rect">
            <a:avLst/>
          </a:prstGeom>
          <a:solidFill>
            <a:srgbClr val="29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044952"/>
            <a:ext cx="2770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447288"/>
            <a:ext cx="2770632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PyTorch — a leading deep learning library.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288036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0" y="2880360"/>
            <a:ext cx="64008" cy="1325880"/>
          </a:xfrm>
          <a:prstGeom prst="rect">
            <a:avLst/>
          </a:prstGeom>
          <a:solidFill>
            <a:srgbClr val="29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15968" y="3044952"/>
            <a:ext cx="2770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3447288"/>
            <a:ext cx="2770632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MNIST — standard benchmark for digit classification.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80560"/>
            <a:ext cx="6583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480560"/>
            <a:ext cx="64008" cy="1234440"/>
          </a:xfrm>
          <a:prstGeom prst="rect">
            <a:avLst/>
          </a:prstGeom>
          <a:solidFill>
            <a:srgbClr val="DD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4645152"/>
            <a:ext cx="6199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End-to-end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47488"/>
            <a:ext cx="6199632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Data loading  →  training  →  evaluation  →  inference demo</a:t>
            </a:r>
            <a:br/>
            <a:r>
              <a:rPr sz="1600">
                <a:solidFill>
                  <a:srgbClr val="5A6470"/>
                </a:solidFill>
                <a:latin typeface="Aptos"/>
              </a:rPr>
              <a:t>The project is modular, reproducible, and ready for GitHub.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150876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82712" y="1691639"/>
            <a:ext cx="2916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0898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99.11%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2258568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Test accuracy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32461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82712" y="3429000"/>
            <a:ext cx="2916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96291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10,000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2712" y="3995928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Test images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272784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0"/>
                </a:solidFill>
                <a:latin typeface="Aptos"/>
              </a:defRPr>
            </a:pPr>
            <a:r>
              <a:t>MNIST Digit Classification  |  Raveena  |  B.Sc. Agriculture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19456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7EB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WHY IT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6629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64008" cy="1280160"/>
          </a:xfrm>
          <a:prstGeom prst="rect">
            <a:avLst/>
          </a:prstGeom>
          <a:solidFill>
            <a:srgbClr val="29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399032"/>
            <a:ext cx="6245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Core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801368"/>
            <a:ext cx="6245352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Handwritten digit recognition is a fundamental computer vision task.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43200"/>
            <a:ext cx="3154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743200"/>
            <a:ext cx="64008" cy="2331720"/>
          </a:xfrm>
          <a:prstGeom prst="rect">
            <a:avLst/>
          </a:prstGeom>
          <a:solidFill>
            <a:srgbClr val="2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2907792"/>
            <a:ext cx="2770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310128"/>
            <a:ext cx="2770632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Postal mail sorting</a:t>
            </a:r>
            <a:br/>
            <a:r>
              <a:rPr sz="1600">
                <a:solidFill>
                  <a:srgbClr val="5A6470"/>
                </a:solidFill>
                <a:latin typeface="Aptos"/>
              </a:rPr>
              <a:t>Bank cheque processing</a:t>
            </a:r>
            <a:br/>
            <a:r>
              <a:rPr sz="1600">
                <a:solidFill>
                  <a:srgbClr val="5A6470"/>
                </a:solidFill>
                <a:latin typeface="Aptos"/>
              </a:rPr>
              <a:t>Form digitization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2743200"/>
            <a:ext cx="3154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60520" y="2743200"/>
            <a:ext cx="64008" cy="2331720"/>
          </a:xfrm>
          <a:prstGeom prst="rect">
            <a:avLst/>
          </a:prstGeom>
          <a:solidFill>
            <a:srgbClr val="DD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61688" y="2907792"/>
            <a:ext cx="2770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310128"/>
            <a:ext cx="2770632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Handwriting varies in:</a:t>
            </a:r>
            <a:br/>
            <a:r>
              <a:rPr sz="1600">
                <a:solidFill>
                  <a:srgbClr val="5A6470"/>
                </a:solidFill>
                <a:latin typeface="Aptos"/>
              </a:rPr>
              <a:t>• style</a:t>
            </a:r>
            <a:br/>
            <a:r>
              <a:rPr sz="1600">
                <a:solidFill>
                  <a:srgbClr val="5A6470"/>
                </a:solidFill>
                <a:latin typeface="Aptos"/>
              </a:rPr>
              <a:t>• stroke width</a:t>
            </a:r>
            <a:br/>
            <a:r>
              <a:rPr sz="1600">
                <a:solidFill>
                  <a:srgbClr val="5A6470"/>
                </a:solidFill>
                <a:latin typeface="Aptos"/>
              </a:rPr>
              <a:t>• orientation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123444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26679" y="1234440"/>
            <a:ext cx="64008" cy="1828800"/>
          </a:xfrm>
          <a:prstGeom prst="rect">
            <a:avLst/>
          </a:prstGeom>
          <a:solidFill>
            <a:srgbClr val="29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27848" y="1399032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1801368"/>
            <a:ext cx="304495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Classify grayscale images into digits 0–9 using a CNN.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34290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91271" y="3611880"/>
            <a:ext cx="3099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E7D50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&gt; 99%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1271" y="4178808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Target test 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272784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0"/>
                </a:solidFill>
                <a:latin typeface="Aptos"/>
              </a:defRPr>
            </a:pPr>
            <a:r>
              <a:t>MNIST Digit Classification  |  Raveena  |  B.Sc. Agriculture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19456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7EB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PROJECT 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3063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64008" cy="1554480"/>
          </a:xfrm>
          <a:prstGeom prst="rect">
            <a:avLst/>
          </a:prstGeom>
          <a:solidFill>
            <a:srgbClr val="29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399032"/>
            <a:ext cx="2679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Design and implement a compact CNN arc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801368"/>
            <a:ext cx="267919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Design and implement a compact CNN architecture for digit classification.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1234440"/>
            <a:ext cx="3063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69080" y="1234440"/>
            <a:ext cx="64008" cy="1554480"/>
          </a:xfrm>
          <a:prstGeom prst="rect">
            <a:avLst/>
          </a:prstGeom>
          <a:solidFill>
            <a:srgbClr val="2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70248" y="1399032"/>
            <a:ext cx="2679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Train the model on the MNIST training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1801368"/>
            <a:ext cx="267919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Train the model on the MNIST training set (60,000 images).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234440"/>
            <a:ext cx="3063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52360" y="1234440"/>
            <a:ext cx="64008" cy="1554480"/>
          </a:xfrm>
          <a:prstGeom prst="rect">
            <a:avLst/>
          </a:prstGeom>
          <a:solidFill>
            <a:srgbClr val="DD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53528" y="1399032"/>
            <a:ext cx="2679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Evaluate performance on the MNIST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8" y="1801368"/>
            <a:ext cx="267919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Evaluate performance on the MNIST test set (10,000 images).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46120"/>
            <a:ext cx="3063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246120"/>
            <a:ext cx="64008" cy="1554480"/>
          </a:xfrm>
          <a:prstGeom prst="rect">
            <a:avLst/>
          </a:prstGeom>
          <a:solidFill>
            <a:srgbClr val="29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3410712"/>
            <a:ext cx="2679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Generate comprehensive evaluation metr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813048"/>
            <a:ext cx="267919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Generate comprehensive evaluation metrics and visualizations.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80" y="3246120"/>
            <a:ext cx="3063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69080" y="3246120"/>
            <a:ext cx="64008" cy="1554480"/>
          </a:xfrm>
          <a:prstGeom prst="rect">
            <a:avLst/>
          </a:prstGeom>
          <a:solidFill>
            <a:srgbClr val="2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70248" y="3410712"/>
            <a:ext cx="2679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Demonstrate inference on a real handwr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0248" y="3813048"/>
            <a:ext cx="267919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Demonstrate inference on a real handwritten digit sample image.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3246120"/>
            <a:ext cx="3063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52360" y="3246120"/>
            <a:ext cx="64008" cy="1554480"/>
          </a:xfrm>
          <a:prstGeom prst="rect">
            <a:avLst/>
          </a:prstGeom>
          <a:solidFill>
            <a:srgbClr val="DD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53528" y="3410712"/>
            <a:ext cx="2679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Package the project for professional 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3528" y="3813048"/>
            <a:ext cx="267919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Package the project for professional GitHub submission.</a:t>
            </a:r>
          </a:p>
        </p:txBody>
      </p:sp>
      <p:sp>
        <p:nvSpPr>
          <p:cNvPr id="33" name="Oval 32"/>
          <p:cNvSpPr/>
          <p:nvPr/>
        </p:nvSpPr>
        <p:spPr>
          <a:xfrm>
            <a:off x="3291840" y="1399032"/>
            <a:ext cx="292608" cy="292608"/>
          </a:xfrm>
          <a:prstGeom prst="ellipse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91840" y="1403604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1</a:t>
            </a:r>
          </a:p>
        </p:txBody>
      </p:sp>
      <p:sp>
        <p:nvSpPr>
          <p:cNvPr id="35" name="Oval 34"/>
          <p:cNvSpPr/>
          <p:nvPr/>
        </p:nvSpPr>
        <p:spPr>
          <a:xfrm>
            <a:off x="6675120" y="1399032"/>
            <a:ext cx="292608" cy="292608"/>
          </a:xfrm>
          <a:prstGeom prst="ellipse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75120" y="1403604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2</a:t>
            </a:r>
          </a:p>
        </p:txBody>
      </p:sp>
      <p:sp>
        <p:nvSpPr>
          <p:cNvPr id="37" name="Oval 36"/>
          <p:cNvSpPr/>
          <p:nvPr/>
        </p:nvSpPr>
        <p:spPr>
          <a:xfrm>
            <a:off x="10058400" y="1399032"/>
            <a:ext cx="292608" cy="292608"/>
          </a:xfrm>
          <a:prstGeom prst="ellipse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0" y="1403604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3</a:t>
            </a:r>
          </a:p>
        </p:txBody>
      </p:sp>
      <p:sp>
        <p:nvSpPr>
          <p:cNvPr id="39" name="Oval 38"/>
          <p:cNvSpPr/>
          <p:nvPr/>
        </p:nvSpPr>
        <p:spPr>
          <a:xfrm>
            <a:off x="3291840" y="3410712"/>
            <a:ext cx="292608" cy="292608"/>
          </a:xfrm>
          <a:prstGeom prst="ellipse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87268" y="3410712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1600" dirty="0">
                <a:solidFill>
                  <a:srgbClr val="5A6470"/>
                </a:solidFill>
                <a:latin typeface="Aptos"/>
              </a:rPr>
              <a:t>4</a:t>
            </a:r>
          </a:p>
        </p:txBody>
      </p:sp>
      <p:sp>
        <p:nvSpPr>
          <p:cNvPr id="41" name="Oval 40"/>
          <p:cNvSpPr/>
          <p:nvPr/>
        </p:nvSpPr>
        <p:spPr>
          <a:xfrm>
            <a:off x="6776212" y="3429000"/>
            <a:ext cx="292608" cy="292608"/>
          </a:xfrm>
          <a:prstGeom prst="ellipse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75704" y="3415284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1600" dirty="0">
                <a:solidFill>
                  <a:srgbClr val="5A6470"/>
                </a:solidFill>
                <a:latin typeface="Aptos"/>
              </a:rPr>
              <a:t>5</a:t>
            </a:r>
          </a:p>
        </p:txBody>
      </p:sp>
      <p:sp>
        <p:nvSpPr>
          <p:cNvPr id="43" name="Oval 42"/>
          <p:cNvSpPr/>
          <p:nvPr/>
        </p:nvSpPr>
        <p:spPr>
          <a:xfrm>
            <a:off x="10058400" y="3410712"/>
            <a:ext cx="292608" cy="292608"/>
          </a:xfrm>
          <a:prstGeom prst="ellipse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058400" y="3415284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272784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0"/>
                </a:solidFill>
                <a:latin typeface="Aptos"/>
              </a:defRPr>
            </a:pPr>
            <a:r>
              <a:t>MNIST Digit Classification  |  Raveena  |  B.Sc. Agriculture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MNIST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19456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7EB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64008" cy="1097280"/>
          </a:xfrm>
          <a:prstGeom prst="rect">
            <a:avLst/>
          </a:prstGeom>
          <a:solidFill>
            <a:srgbClr val="29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399032"/>
            <a:ext cx="4828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What is MNIST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801368"/>
            <a:ext cx="4828032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Modified National Institute of Standards and Technology dataset.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0604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278892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0898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70,000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355848"/>
            <a:ext cx="2093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Total images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260604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02152" y="278892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96291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60,000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3355848"/>
            <a:ext cx="2093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Training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06908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425196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DD7E37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10,000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18888"/>
            <a:ext cx="2093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406908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02152" y="425196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0898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28 × 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52" y="4818888"/>
            <a:ext cx="2093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Pixels / image</a:t>
            </a:r>
          </a:p>
        </p:txBody>
      </p:sp>
      <p:pic>
        <p:nvPicPr>
          <p:cNvPr id="25" name="Picture 2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508760"/>
            <a:ext cx="2743200" cy="2743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40880" y="45720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Example handwritten digit</a:t>
            </a:r>
            <a:br/>
            <a:r>
              <a:rPr sz="1600">
                <a:solidFill>
                  <a:srgbClr val="5A6470"/>
                </a:solidFill>
                <a:latin typeface="Aptos"/>
              </a:rPr>
              <a:t>Single-channel grayscale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534924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Pixel values: 0 (black) → 255 (white)</a:t>
            </a:r>
            <a:br/>
            <a:r>
              <a:rPr sz="1600">
                <a:solidFill>
                  <a:srgbClr val="5A6470"/>
                </a:solidFill>
                <a:latin typeface="Aptos"/>
              </a:rPr>
              <a:t>Digits: 0–9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272784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0"/>
                </a:solidFill>
                <a:latin typeface="Aptos"/>
              </a:defRPr>
            </a:pPr>
            <a:r>
              <a:t>MNIST Digit Classification  |  Raveena  |  B.Sc. Agriculture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Data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19456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7EB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64008" cy="2194560"/>
          </a:xfrm>
          <a:prstGeom prst="rect">
            <a:avLst/>
          </a:prstGeom>
          <a:solidFill>
            <a:srgbClr val="29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719072"/>
            <a:ext cx="2084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Normalize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21408"/>
            <a:ext cx="208483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Mean 0.1307</a:t>
            </a:r>
            <a:br/>
            <a:r>
              <a:rPr sz="1600">
                <a:solidFill>
                  <a:srgbClr val="5A6470"/>
                </a:solidFill>
                <a:latin typeface="Aptos"/>
              </a:rPr>
              <a:t>Std 0.3081</a:t>
            </a:r>
          </a:p>
        </p:txBody>
      </p:sp>
      <p:sp>
        <p:nvSpPr>
          <p:cNvPr id="13" name="Oval 12"/>
          <p:cNvSpPr/>
          <p:nvPr/>
        </p:nvSpPr>
        <p:spPr>
          <a:xfrm>
            <a:off x="1600200" y="4160520"/>
            <a:ext cx="548640" cy="548640"/>
          </a:xfrm>
          <a:prstGeom prst="ellipse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00200" y="427024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8960" y="2651760"/>
            <a:ext cx="347472" cy="0"/>
          </a:xfrm>
          <a:prstGeom prst="line">
            <a:avLst/>
          </a:prstGeom>
          <a:ln w="31750">
            <a:solidFill>
              <a:srgbClr val="296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56432" y="155448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56432" y="1554480"/>
            <a:ext cx="64008" cy="2194560"/>
          </a:xfrm>
          <a:prstGeom prst="rect">
            <a:avLst/>
          </a:prstGeom>
          <a:solidFill>
            <a:srgbClr val="2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0" y="1719072"/>
            <a:ext cx="2084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Validation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121408"/>
            <a:ext cx="208483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10% of training data</a:t>
            </a:r>
            <a:br/>
            <a:r>
              <a:rPr sz="1600">
                <a:solidFill>
                  <a:srgbClr val="5A6470"/>
                </a:solidFill>
                <a:latin typeface="Aptos"/>
              </a:rPr>
              <a:t>Seeded for reproducibility</a:t>
            </a:r>
          </a:p>
        </p:txBody>
      </p:sp>
      <p:sp>
        <p:nvSpPr>
          <p:cNvPr id="20" name="Oval 19"/>
          <p:cNvSpPr/>
          <p:nvPr/>
        </p:nvSpPr>
        <p:spPr>
          <a:xfrm>
            <a:off x="4416552" y="4160520"/>
            <a:ext cx="548640" cy="548640"/>
          </a:xfrm>
          <a:prstGeom prst="ellipse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16552" y="427024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25312" y="2651760"/>
            <a:ext cx="347472" cy="0"/>
          </a:xfrm>
          <a:prstGeom prst="line">
            <a:avLst/>
          </a:prstGeom>
          <a:ln w="31750">
            <a:solidFill>
              <a:srgbClr val="296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72784" y="155448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72784" y="1554480"/>
            <a:ext cx="64008" cy="2194560"/>
          </a:xfrm>
          <a:prstGeom prst="rect">
            <a:avLst/>
          </a:prstGeom>
          <a:solidFill>
            <a:srgbClr val="DD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1719072"/>
            <a:ext cx="2084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Augment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2121408"/>
            <a:ext cx="208483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Rotation ±10°</a:t>
            </a:r>
            <a:br/>
            <a:r>
              <a:rPr sz="1600">
                <a:solidFill>
                  <a:srgbClr val="5A6470"/>
                </a:solidFill>
                <a:latin typeface="Aptos"/>
              </a:rPr>
              <a:t>Affine: translate 8%, shear 5°</a:t>
            </a:r>
          </a:p>
        </p:txBody>
      </p:sp>
      <p:sp>
        <p:nvSpPr>
          <p:cNvPr id="27" name="Oval 26"/>
          <p:cNvSpPr/>
          <p:nvPr/>
        </p:nvSpPr>
        <p:spPr>
          <a:xfrm>
            <a:off x="7232904" y="4160520"/>
            <a:ext cx="548640" cy="548640"/>
          </a:xfrm>
          <a:prstGeom prst="ellipse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32904" y="427024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41664" y="2651760"/>
            <a:ext cx="347472" cy="0"/>
          </a:xfrm>
          <a:prstGeom prst="line">
            <a:avLst/>
          </a:prstGeom>
          <a:ln w="31750">
            <a:solidFill>
              <a:srgbClr val="296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089136" y="155448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089136" y="1554480"/>
            <a:ext cx="64008" cy="2194560"/>
          </a:xfrm>
          <a:prstGeom prst="rect">
            <a:avLst/>
          </a:prstGeom>
          <a:solidFill>
            <a:srgbClr val="29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90304" y="1719072"/>
            <a:ext cx="2084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Test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0304" y="2121408"/>
            <a:ext cx="208483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Normalization only</a:t>
            </a:r>
            <a:br/>
            <a:r>
              <a:rPr sz="1600">
                <a:solidFill>
                  <a:srgbClr val="5A6470"/>
                </a:solidFill>
                <a:latin typeface="Aptos"/>
              </a:rPr>
              <a:t>No augmentation</a:t>
            </a:r>
          </a:p>
        </p:txBody>
      </p:sp>
      <p:sp>
        <p:nvSpPr>
          <p:cNvPr id="34" name="Oval 33"/>
          <p:cNvSpPr/>
          <p:nvPr/>
        </p:nvSpPr>
        <p:spPr>
          <a:xfrm>
            <a:off x="10049256" y="4160520"/>
            <a:ext cx="548640" cy="548640"/>
          </a:xfrm>
          <a:prstGeom prst="ellipse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49256" y="427024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57400" y="4892040"/>
            <a:ext cx="8046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057400" y="4892040"/>
            <a:ext cx="64008" cy="960120"/>
          </a:xfrm>
          <a:prstGeom prst="rect">
            <a:avLst/>
          </a:prstGeom>
          <a:solidFill>
            <a:srgbClr val="2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258568" y="5056631"/>
            <a:ext cx="7662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Data loading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58568" y="5458968"/>
            <a:ext cx="7662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torchvision.datasets.MNIST with automatic download.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272784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0"/>
                </a:solidFill>
                <a:latin typeface="Aptos"/>
              </a:defRPr>
            </a:pPr>
            <a:r>
              <a:t>MNIST Digit Classification  |  Raveena  |  B.Sc. Agriculture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CNN Architecture — SimpleCNN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19456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7EB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828800"/>
            <a:ext cx="1371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96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" y="2057400"/>
            <a:ext cx="1225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697480"/>
            <a:ext cx="12252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28 × 28 × 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91640" y="2834640"/>
            <a:ext cx="301752" cy="0"/>
          </a:xfrm>
          <a:prstGeom prst="line">
            <a:avLst/>
          </a:prstGeom>
          <a:ln w="31750">
            <a:solidFill>
              <a:srgbClr val="296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993392" y="1828800"/>
            <a:ext cx="1371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0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66544" y="2057400"/>
            <a:ext cx="1225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CONV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66544" y="2697480"/>
            <a:ext cx="12252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1 → 32</a:t>
            </a:r>
            <a:br/>
            <a:r>
              <a:rPr sz="1600">
                <a:solidFill>
                  <a:srgbClr val="5A6470"/>
                </a:solidFill>
                <a:latin typeface="Aptos"/>
              </a:rPr>
              <a:t>3×3 + ReLU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64992" y="2834640"/>
            <a:ext cx="301752" cy="0"/>
          </a:xfrm>
          <a:prstGeom prst="line">
            <a:avLst/>
          </a:prstGeom>
          <a:ln w="31750">
            <a:solidFill>
              <a:srgbClr val="296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666744" y="1828800"/>
            <a:ext cx="1371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D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39896" y="2057400"/>
            <a:ext cx="1225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CONV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9896" y="2697480"/>
            <a:ext cx="12252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32 → 64</a:t>
            </a:r>
            <a:br/>
            <a:r>
              <a:rPr sz="1600">
                <a:solidFill>
                  <a:srgbClr val="5A6470"/>
                </a:solidFill>
                <a:latin typeface="Aptos"/>
              </a:rPr>
              <a:t>3×3 + ReLU + Pool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38344" y="2834640"/>
            <a:ext cx="301752" cy="0"/>
          </a:xfrm>
          <a:prstGeom prst="line">
            <a:avLst/>
          </a:prstGeom>
          <a:ln w="31750">
            <a:solidFill>
              <a:srgbClr val="296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40096" y="1828800"/>
            <a:ext cx="1371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96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13248" y="2057400"/>
            <a:ext cx="1225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CONV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3248" y="2697480"/>
            <a:ext cx="12252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64 → 128</a:t>
            </a:r>
            <a:br/>
            <a:r>
              <a:rPr sz="1600">
                <a:solidFill>
                  <a:srgbClr val="5A6470"/>
                </a:solidFill>
                <a:latin typeface="Aptos"/>
              </a:rPr>
              <a:t>3×3 + ReLU + Pool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11696" y="2834640"/>
            <a:ext cx="301752" cy="0"/>
          </a:xfrm>
          <a:prstGeom prst="line">
            <a:avLst/>
          </a:prstGeom>
          <a:ln w="31750">
            <a:solidFill>
              <a:srgbClr val="296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013448" y="1828800"/>
            <a:ext cx="1371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0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86600" y="2057400"/>
            <a:ext cx="1225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FLATTEN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97480"/>
            <a:ext cx="12252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128 × 7 × 7</a:t>
            </a:r>
            <a:br/>
            <a:r>
              <a:rPr sz="1600">
                <a:solidFill>
                  <a:srgbClr val="5A6470"/>
                </a:solidFill>
                <a:latin typeface="Aptos"/>
              </a:rPr>
              <a:t>= 6,272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85048" y="2834640"/>
            <a:ext cx="301752" cy="0"/>
          </a:xfrm>
          <a:prstGeom prst="line">
            <a:avLst/>
          </a:prstGeom>
          <a:ln w="31750">
            <a:solidFill>
              <a:srgbClr val="296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686800" y="1828800"/>
            <a:ext cx="1371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D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59952" y="2057400"/>
            <a:ext cx="1225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FC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9952" y="2697480"/>
            <a:ext cx="12252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6,272 → 256</a:t>
            </a:r>
            <a:br/>
            <a:r>
              <a:rPr sz="1600">
                <a:solidFill>
                  <a:srgbClr val="5A6470"/>
                </a:solidFill>
                <a:latin typeface="Aptos"/>
              </a:rPr>
              <a:t>ReLU + Dropout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58400" y="2834640"/>
            <a:ext cx="301752" cy="0"/>
          </a:xfrm>
          <a:prstGeom prst="line">
            <a:avLst/>
          </a:prstGeom>
          <a:ln w="31750">
            <a:solidFill>
              <a:srgbClr val="296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60152" y="1828800"/>
            <a:ext cx="1371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193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33304" y="2057400"/>
            <a:ext cx="1225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FC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33304" y="2697480"/>
            <a:ext cx="12252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256 → 10</a:t>
            </a:r>
            <a:br/>
            <a:r>
              <a:rPr sz="1600">
                <a:solidFill>
                  <a:srgbClr val="5A6470"/>
                </a:solidFill>
                <a:latin typeface="Aptos"/>
              </a:rPr>
              <a:t>Output classes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03120" y="4343400"/>
            <a:ext cx="795527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103120" y="4343400"/>
            <a:ext cx="64008" cy="1143000"/>
          </a:xfrm>
          <a:prstGeom prst="rect">
            <a:avLst/>
          </a:prstGeom>
          <a:solidFill>
            <a:srgbClr val="DD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04288" y="4507992"/>
            <a:ext cx="7571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Regularization &amp; size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04288" y="4910328"/>
            <a:ext cx="757123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Dropout = 0.25  •  Total parameters ≈ 1.7M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272784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0"/>
                </a:solidFill>
                <a:latin typeface="Aptos"/>
              </a:defRPr>
            </a:pPr>
            <a:r>
              <a:t>MNIST Digit Classification  |  Raveena  |  B.Sc. Agriculture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Training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19456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7EB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3246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64008" cy="1371600"/>
          </a:xfrm>
          <a:prstGeom prst="rect">
            <a:avLst/>
          </a:prstGeom>
          <a:solidFill>
            <a:srgbClr val="29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490472"/>
            <a:ext cx="2862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892807"/>
            <a:ext cx="2862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Adam</a:t>
            </a:r>
            <a:br/>
            <a:r>
              <a:rPr sz="1600">
                <a:solidFill>
                  <a:srgbClr val="5A6470"/>
                </a:solidFill>
                <a:latin typeface="Aptos"/>
              </a:rPr>
              <a:t>Learning rate = 0.001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325880"/>
            <a:ext cx="3246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1325880"/>
            <a:ext cx="64008" cy="1371600"/>
          </a:xfrm>
          <a:prstGeom prst="rect">
            <a:avLst/>
          </a:prstGeom>
          <a:solidFill>
            <a:srgbClr val="2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53128" y="1490472"/>
            <a:ext cx="2862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Loss 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892807"/>
            <a:ext cx="2862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CrossEntropyLoss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325880"/>
            <a:ext cx="3246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18120" y="1325880"/>
            <a:ext cx="64008" cy="1371600"/>
          </a:xfrm>
          <a:prstGeom prst="rect">
            <a:avLst/>
          </a:prstGeom>
          <a:solidFill>
            <a:srgbClr val="DD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19288" y="1490472"/>
            <a:ext cx="2862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Batch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1892807"/>
            <a:ext cx="2862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64 training</a:t>
            </a:r>
            <a:br/>
            <a:r>
              <a:rPr sz="1600">
                <a:solidFill>
                  <a:srgbClr val="5A6470"/>
                </a:solidFill>
                <a:latin typeface="Aptos"/>
              </a:rPr>
              <a:t>256 evaluation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63240"/>
            <a:ext cx="3246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063240"/>
            <a:ext cx="64008" cy="1463040"/>
          </a:xfrm>
          <a:prstGeom prst="rect">
            <a:avLst/>
          </a:prstGeom>
          <a:solidFill>
            <a:srgbClr val="2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3227832"/>
            <a:ext cx="2862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Checkpointing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630168"/>
            <a:ext cx="2862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Best model saved based on validation loss.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3063240"/>
            <a:ext cx="3246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51960" y="3063240"/>
            <a:ext cx="64008" cy="1463040"/>
          </a:xfrm>
          <a:prstGeom prst="rect">
            <a:avLst/>
          </a:prstGeom>
          <a:solidFill>
            <a:srgbClr val="29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53128" y="3227832"/>
            <a:ext cx="2862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Reproducibility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630168"/>
            <a:ext cx="2862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Random seed = 42 for all random operations.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3063240"/>
            <a:ext cx="3246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818120" y="3063240"/>
            <a:ext cx="64008" cy="1463040"/>
          </a:xfrm>
          <a:prstGeom prst="rect">
            <a:avLst/>
          </a:prstGeom>
          <a:solidFill>
            <a:srgbClr val="DD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19288" y="3227832"/>
            <a:ext cx="2862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Logging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3630168"/>
            <a:ext cx="2862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Training &amp; validation metrics logged per epoch (CSV + JSON).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12064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Optional learning-rate scheduler: StepLR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272784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0"/>
                </a:solidFill>
                <a:latin typeface="Aptos"/>
              </a:defRPr>
            </a:pPr>
            <a:r>
              <a:t>MNIST Digit Classification  |  Raveena  |  B.Sc. Agriculture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Evaluation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19456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7EB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64008" cy="1691640"/>
          </a:xfrm>
          <a:prstGeom prst="rect">
            <a:avLst/>
          </a:prstGeom>
          <a:solidFill>
            <a:srgbClr val="2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490472"/>
            <a:ext cx="2862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892807"/>
            <a:ext cx="286207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Fraction of correctly classified samples.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2588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325880"/>
            <a:ext cx="64008" cy="1691640"/>
          </a:xfrm>
          <a:prstGeom prst="rect">
            <a:avLst/>
          </a:prstGeom>
          <a:solidFill>
            <a:srgbClr val="29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1490472"/>
            <a:ext cx="2862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892807"/>
            <a:ext cx="286207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TP / (TP + FP).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32588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325880"/>
            <a:ext cx="64008" cy="1691640"/>
          </a:xfrm>
          <a:prstGeom prst="rect">
            <a:avLst/>
          </a:prstGeom>
          <a:solidFill>
            <a:srgbClr val="DD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1490472"/>
            <a:ext cx="2862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1892807"/>
            <a:ext cx="286207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TP / (TP + FN).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747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474720"/>
            <a:ext cx="64008" cy="1691640"/>
          </a:xfrm>
          <a:prstGeom prst="rect">
            <a:avLst/>
          </a:prstGeom>
          <a:solidFill>
            <a:srgbClr val="2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3639312"/>
            <a:ext cx="2862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F1-Score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041648"/>
            <a:ext cx="286207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Harmonic mean of precision and recall.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4747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3474720"/>
            <a:ext cx="64008" cy="1691640"/>
          </a:xfrm>
          <a:prstGeom prst="rect">
            <a:avLst/>
          </a:prstGeom>
          <a:solidFill>
            <a:srgbClr val="29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90288" y="3639312"/>
            <a:ext cx="2862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Confusion Matrix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4041648"/>
            <a:ext cx="286207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Per-class classification performance.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34747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92440" y="3474720"/>
            <a:ext cx="64008" cy="1691640"/>
          </a:xfrm>
          <a:prstGeom prst="rect">
            <a:avLst/>
          </a:prstGeom>
          <a:solidFill>
            <a:srgbClr val="DD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93608" y="3639312"/>
            <a:ext cx="2862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Test 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4041648"/>
            <a:ext cx="286207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Full 10,000-image evaluation.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80644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Per-class and aggregate (macro/weighted) metrics are reported.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272784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0"/>
                </a:solidFill>
                <a:latin typeface="Aptos"/>
              </a:defRPr>
            </a:pPr>
            <a:r>
              <a:t>MNIST Digit Classification  |  Raveena  |  B.Sc. Agriculture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19456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7EB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508760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0898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99.11%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Test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2588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1508760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96291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10,000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075688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Test samples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6324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246120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E7D50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9,911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813048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Correct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306324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93592" y="3246120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B53F3F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3813048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Incorrect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00600"/>
            <a:ext cx="5212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800600"/>
            <a:ext cx="64008" cy="960120"/>
          </a:xfrm>
          <a:prstGeom prst="rect">
            <a:avLst/>
          </a:prstGeom>
          <a:solidFill>
            <a:srgbClr val="2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4965192"/>
            <a:ext cx="4828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Aggregate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367528"/>
            <a:ext cx="48280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Macro Precision ≈ 99.10%  •  Macro Recall ≈ 99.10%  •  Macro F1 ≈ 99.10%</a:t>
            </a:r>
          </a:p>
        </p:txBody>
      </p:sp>
      <p:pic>
        <p:nvPicPr>
          <p:cNvPr id="25" name="Picture 2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417320"/>
            <a:ext cx="2331720" cy="23317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452360" y="388620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Sample Prediction: Digit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3891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Top Probability: 0.999983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272784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0"/>
                </a:solidFill>
                <a:latin typeface="Aptos"/>
              </a:defRPr>
            </a:pPr>
            <a:r>
              <a:t>MNIST Digit Classification  |  Raveena  |  B.Sc. Agriculture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Confusion Matrix &amp; Sample Predictions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19456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7EB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544068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36208" y="1234440"/>
            <a:ext cx="544068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81328"/>
            <a:ext cx="5029200" cy="4526280"/>
          </a:xfrm>
          <a:prstGeom prst="rect">
            <a:avLst/>
          </a:prstGeom>
        </p:spPr>
      </p:pic>
      <p:pic>
        <p:nvPicPr>
          <p:cNvPr id="12" name="Picture 11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554480"/>
            <a:ext cx="4983480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4440" y="5961888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Diagonal = correct classifications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5961888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978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 = True / actual   •   P = Predicted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272784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0"/>
                </a:solidFill>
                <a:latin typeface="Aptos"/>
              </a:defRPr>
            </a:pPr>
            <a:r>
              <a:t>MNIST Digit Classification  |  Raveena  |  B.Sc. Agriculture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9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19456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7EB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WRAP-UP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80160"/>
            <a:ext cx="52578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280160"/>
            <a:ext cx="64008" cy="3611880"/>
          </a:xfrm>
          <a:prstGeom prst="rect">
            <a:avLst/>
          </a:prstGeom>
          <a:solidFill>
            <a:srgbClr val="20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444751"/>
            <a:ext cx="4873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847088"/>
            <a:ext cx="4873752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Successfully built a CNN achieving 99.11% accuracy on MNIST.</a:t>
            </a:r>
            <a:br/>
            <a:br/>
            <a:r>
              <a:rPr sz="1600">
                <a:solidFill>
                  <a:srgbClr val="5A6470"/>
                </a:solidFill>
                <a:latin typeface="Aptos"/>
              </a:rPr>
              <a:t>Complete pipeline: data preprocessing, training, evaluation, and inference.</a:t>
            </a:r>
            <a:br/>
            <a:br/>
            <a:r>
              <a:rPr sz="1600">
                <a:solidFill>
                  <a:srgbClr val="5A6470"/>
                </a:solidFill>
                <a:latin typeface="Aptos"/>
              </a:rPr>
              <a:t>Comprehensive visualizations: confusion matrix, predictions, misclassified samples.</a:t>
            </a:r>
            <a:br/>
            <a:br/>
            <a:r>
              <a:rPr sz="1600">
                <a:solidFill>
                  <a:srgbClr val="5A6470"/>
                </a:solidFill>
                <a:latin typeface="Aptos"/>
              </a:rPr>
              <a:t>Project packaged for professional GitHub submission.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80160"/>
            <a:ext cx="52578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280160"/>
            <a:ext cx="64008" cy="3611880"/>
          </a:xfrm>
          <a:prstGeom prst="rect">
            <a:avLst/>
          </a:prstGeom>
          <a:solidFill>
            <a:srgbClr val="29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1444751"/>
            <a:ext cx="4873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1847088"/>
            <a:ext cx="4873752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Extend to more complex datasets: Fashion-MNIST, EMNIST, SVHN.</a:t>
            </a:r>
            <a:br/>
            <a:br/>
            <a:r>
              <a:rPr sz="1600">
                <a:solidFill>
                  <a:srgbClr val="5A6470"/>
                </a:solidFill>
                <a:latin typeface="Aptos"/>
              </a:rPr>
              <a:t>Experiment with deeper architectures: ResNet, EfficientNet.</a:t>
            </a:r>
            <a:br/>
            <a:br/>
            <a:r>
              <a:rPr sz="1600">
                <a:solidFill>
                  <a:srgbClr val="5A6470"/>
                </a:solidFill>
                <a:latin typeface="Aptos"/>
              </a:rPr>
              <a:t>Deploy as a web application with real-time digit drawing.</a:t>
            </a:r>
            <a:br/>
            <a:br/>
            <a:r>
              <a:rPr sz="1600">
                <a:solidFill>
                  <a:srgbClr val="5A6470"/>
                </a:solidFill>
                <a:latin typeface="Aptos"/>
              </a:rPr>
              <a:t>Explore model compression for edge deployment (quantization, pruning).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30352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93759"/>
                </a:solidFill>
                <a:latin typeface="Aptos"/>
              </a:defRPr>
            </a:pPr>
            <a:r>
              <a:rPr sz="1600">
                <a:solidFill>
                  <a:srgbClr val="5A6470"/>
                </a:solidFill>
                <a:latin typeface="Aptos"/>
              </a:rP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272784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0"/>
                </a:solidFill>
                <a:latin typeface="Aptos"/>
              </a:defRPr>
            </a:pPr>
            <a:r>
              <a:t>MNIST Digit Classification  |  Raveena  |  B.Sc. Agriculture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881</Words>
  <Application>Microsoft Office PowerPoint</Application>
  <PresentationFormat>Widescreen</PresentationFormat>
  <Paragraphs>183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Amit Bishnoi</cp:lastModifiedBy>
  <cp:revision>2</cp:revision>
  <dcterms:created xsi:type="dcterms:W3CDTF">2013-01-27T09:14:16Z</dcterms:created>
  <dcterms:modified xsi:type="dcterms:W3CDTF">2026-08-25T06:39:04Z</dcterms:modified>
  <cp:category/>
</cp:coreProperties>
</file>